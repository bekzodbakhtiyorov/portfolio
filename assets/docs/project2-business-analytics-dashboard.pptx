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6" r:id="rId10"/>
    <p:sldId id="267" r:id="rId11"/>
    <p:sldId id="268" r:id="rId12"/>
    <p:sldId id="269" r:id="rId13"/>
    <p:sldId id="270" r:id="rId14"/>
    <p:sldId id="261" r:id="rId15"/>
    <p:sldId id="262" r:id="rId16"/>
    <p:sldId id="264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F71"/>
    <a:srgbClr val="C10230"/>
    <a:srgbClr val="0033CC"/>
    <a:srgbClr val="00205C"/>
    <a:srgbClr val="FF4F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DADFF5-FD11-4938-905A-4BA9BED86A7C}" v="14" dt="2025-12-08T02:23:42.5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 autoAdjust="0"/>
  </p:normalViewPr>
  <p:slideViewPr>
    <p:cSldViewPr snapToGrid="0">
      <p:cViewPr>
        <p:scale>
          <a:sx n="66" d="100"/>
          <a:sy n="66" d="100"/>
        </p:scale>
        <p:origin x="1330" y="31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DD4FE-3527-9F37-5B9D-64BEFF949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513049-5282-83E6-62CA-DDB20846B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DAE4A-F222-C00D-94B8-482F254A4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BB03-2528-4918-ABEE-AE173194B9F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72972-163B-F201-5D95-4101B47EF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D1DC0-2519-EA78-3BC9-2F697AB53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3A769-1E2B-4E20-847F-735940B12E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820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643BA-113F-1931-4313-D235686A7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14287-5E79-63A2-E479-6A799D9FE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BC35A-EB48-9782-2876-899FE7C8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BB03-2528-4918-ABEE-AE173194B9F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3F46B-C22F-889D-1FE5-CEE86BCD3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570E7-E072-3DF8-156A-A471D4F2A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3A769-1E2B-4E20-847F-735940B12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52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CB7F8-ACF6-E886-BB28-D9C0C71BD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4F366-E64A-626E-231B-D71ED15F3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DB772-0EAB-8C88-E36D-BADF8EF90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BB03-2528-4918-ABEE-AE173194B9F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384B7-476C-FBD1-CEFB-1A7C2E79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9A038-0B51-B612-EE8F-EB467F1EF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3A769-1E2B-4E20-847F-735940B12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07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17C0C-C965-B09B-D1DD-3FF9118DE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403D2-B8C9-303B-D2CB-1B18762AA4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46A5D-9E6F-4836-2561-6F70C99428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242879-5783-14BE-A88F-0E843943E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BB03-2528-4918-ABEE-AE173194B9F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89B2B-D138-36AC-A100-DB7E39F1A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3B84E3-A675-0EB9-DA09-21507198F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3A769-1E2B-4E20-847F-735940B12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18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0A4CF-D24E-6C67-ABE0-FBB5C250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0907A-26C1-6BD1-116E-B5EE8929B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BA1E54-C2B3-6C09-87F9-232D80E54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602F31-68E2-DC3F-A9C1-645969F5EA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EBF4F2-E9E5-8AE4-6B17-3A44AF7DB6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BAD7DC-9179-C8CA-E898-85831392F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BB03-2528-4918-ABEE-AE173194B9F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EF29AE-6A79-D385-FE35-C188AF4F0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908B09-30A2-F7A1-F45B-11E1BD00A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3A769-1E2B-4E20-847F-735940B12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22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91358-15D3-064A-720C-3F2E39569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AF8B3E-83BC-EEAE-6F5A-C6ED86456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BB03-2528-4918-ABEE-AE173194B9F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46BDF8-61D8-AEC3-EEF7-49DC4E159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026D5C-2017-D745-03E0-8FD2F03C2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3A769-1E2B-4E20-847F-735940B12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2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990D10-007F-8D95-7B6C-5CB77C20B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BB03-2528-4918-ABEE-AE173194B9F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BF6F7C-59E1-4E8C-3CBB-0D82EB91E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F6270-47FE-B743-5898-DEC85224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3A769-1E2B-4E20-847F-735940B12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84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6F8F9-9BD3-EF58-CC35-E68392D27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844F4-A71B-2572-5437-53368CED1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AFB64D-3187-83ED-3C03-7BDEB3DEF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9436B-36BD-7FF7-1E1C-8E32FC3FC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BB03-2528-4918-ABEE-AE173194B9F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A898C-2590-8318-1692-6C1488C5C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98F9F5-FCB5-AD3B-8EE5-F1C660BF0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3A769-1E2B-4E20-847F-735940B12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346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39D9E-41A2-2A93-3C7E-E6A1161F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085BB8-5F3B-22BD-AD57-A0362414DA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595D8C-3187-443C-74A9-389A56A73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7CEAE-C9B7-C9A2-8107-4777AB54D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BB03-2528-4918-ABEE-AE173194B9F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716D5-6541-5486-B307-C4292BCCD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BB5D2-714B-4031-48F4-3ECADC28F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3A769-1E2B-4E20-847F-735940B12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325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1DD17-2E8E-16D0-CD64-9507F4574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A10FEA-FEDB-C120-FBEE-0C4B4B956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3E7D6-773E-8851-55FB-005E30EDD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BB03-2528-4918-ABEE-AE173194B9F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2FA82-88C2-0813-DC04-D5D7B311F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EEE54-4BD8-196A-4DB9-7B9FA541D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3A769-1E2B-4E20-847F-735940B12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57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97B56B-52D9-5958-7161-2206D15519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AC0C5F-01FC-11DB-F5DD-A3C2C42E1C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06C1B-60AE-D022-8DCC-64769D7C4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BB03-2528-4918-ABEE-AE173194B9F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F5BF8-6ECF-BFF1-BEEA-E31083745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C54C2-AC5C-BE59-AC14-DEA77FDCD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3A769-1E2B-4E20-847F-735940B12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747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2BF5D5-A693-54DD-957D-C4A814054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What Shapes Graduation Success: A National Analysis for USDE Decision-Making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DC78A-E4BF-6B4A-DFD8-33B3AD5C5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 Bekzod Bakhtiyorov, Nicholas Chavez, Nicky Khamvongsa, Jiselle Perez, Braeden Taylor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AE0BB-3047-FBD5-78DB-8FEA8630C7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0DBB03-2528-4918-ABEE-AE173194B9F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49D66-4CD1-7EDD-DBE2-C9EFCF4A2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666AB-ECAD-60D5-787E-BD5750D492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F3A769-1E2B-4E20-847F-735940B12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413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public.tableau.com/shared/GJY3B6QT8?:display_count=n&amp;:origin=viz_share_link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2553EC6-E3BE-D61C-C9D8-561898316A91}"/>
              </a:ext>
            </a:extLst>
          </p:cNvPr>
          <p:cNvSpPr/>
          <p:nvPr/>
        </p:nvSpPr>
        <p:spPr>
          <a:xfrm>
            <a:off x="-1" y="0"/>
            <a:ext cx="7858839" cy="529656"/>
          </a:xfrm>
          <a:prstGeom prst="rect">
            <a:avLst/>
          </a:prstGeom>
          <a:solidFill>
            <a:srgbClr val="213F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F42481-FBC2-7EDA-5CE4-92A3A1C68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75756"/>
            <a:ext cx="6096000" cy="2353244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213F7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Understanding What Shapes Graduation Success: A National Analysis for USDE Decision-Making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270C72-8C23-8BA1-C2C5-CAD522BDC7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202238"/>
            <a:ext cx="6096000" cy="1655762"/>
          </a:xfrm>
        </p:spPr>
        <p:txBody>
          <a:bodyPr/>
          <a:lstStyle/>
          <a:p>
            <a:r>
              <a:rPr lang="en-US" b="1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by: Bekzod Bakhtiyorov, Nicholas Chavez, Nicky Khamvongsa, Jiselle Perez, Braeden Taylor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23A8DA2-C809-3365-92C0-C5B58723526A}"/>
              </a:ext>
            </a:extLst>
          </p:cNvPr>
          <p:cNvSpPr/>
          <p:nvPr/>
        </p:nvSpPr>
        <p:spPr>
          <a:xfrm>
            <a:off x="6362664" y="-1274916"/>
            <a:ext cx="7753386" cy="7421716"/>
          </a:xfrm>
          <a:prstGeom prst="ellipse">
            <a:avLst/>
          </a:prstGeom>
          <a:solidFill>
            <a:srgbClr val="C10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A2E9A60-19F2-A36C-292D-10141EEAB26E}"/>
              </a:ext>
            </a:extLst>
          </p:cNvPr>
          <p:cNvSpPr/>
          <p:nvPr/>
        </p:nvSpPr>
        <p:spPr>
          <a:xfrm>
            <a:off x="7327864" y="-1821016"/>
            <a:ext cx="7753386" cy="74217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blue graduation cap with a white line&#10;&#10;AI-generated content may be incorrect.">
            <a:extLst>
              <a:ext uri="{FF2B5EF4-FFF2-40B4-BE49-F238E27FC236}">
                <a16:creationId xmlns:a16="http://schemas.microsoft.com/office/drawing/2014/main" id="{DC206826-84AF-FC55-48E4-EA05EC1027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839" y="107791"/>
            <a:ext cx="3465636" cy="1668463"/>
          </a:xfrm>
          <a:prstGeom prst="rect">
            <a:avLst/>
          </a:prstGeom>
          <a:ln>
            <a:noFill/>
          </a:ln>
        </p:spPr>
      </p:pic>
      <p:sp>
        <p:nvSpPr>
          <p:cNvPr id="19" name="Minus Sign 18">
            <a:extLst>
              <a:ext uri="{FF2B5EF4-FFF2-40B4-BE49-F238E27FC236}">
                <a16:creationId xmlns:a16="http://schemas.microsoft.com/office/drawing/2014/main" id="{AC4DB77E-CAC1-36AA-EF2D-5AC4EA7659FC}"/>
              </a:ext>
            </a:extLst>
          </p:cNvPr>
          <p:cNvSpPr/>
          <p:nvPr/>
        </p:nvSpPr>
        <p:spPr>
          <a:xfrm rot="19023765">
            <a:off x="9509478" y="2747812"/>
            <a:ext cx="2973518" cy="1155700"/>
          </a:xfrm>
          <a:prstGeom prst="mathMinus">
            <a:avLst/>
          </a:prstGeom>
          <a:solidFill>
            <a:srgbClr val="213F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EBC0760-9CC5-3D12-40E4-134AC2F09B3F}"/>
              </a:ext>
            </a:extLst>
          </p:cNvPr>
          <p:cNvSpPr/>
          <p:nvPr/>
        </p:nvSpPr>
        <p:spPr>
          <a:xfrm>
            <a:off x="10210063" y="2446644"/>
            <a:ext cx="532787" cy="532787"/>
          </a:xfrm>
          <a:prstGeom prst="ellipse">
            <a:avLst/>
          </a:prstGeom>
          <a:solidFill>
            <a:srgbClr val="213F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D2076ED-2A6D-6791-A5AA-37ABBB79F286}"/>
              </a:ext>
            </a:extLst>
          </p:cNvPr>
          <p:cNvSpPr/>
          <p:nvPr/>
        </p:nvSpPr>
        <p:spPr>
          <a:xfrm>
            <a:off x="11324475" y="3589032"/>
            <a:ext cx="532787" cy="532787"/>
          </a:xfrm>
          <a:prstGeom prst="ellipse">
            <a:avLst/>
          </a:prstGeom>
          <a:solidFill>
            <a:srgbClr val="213F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2D90F6-936B-09B9-B4FD-E4BAB40708BD}"/>
              </a:ext>
            </a:extLst>
          </p:cNvPr>
          <p:cNvSpPr txBox="1"/>
          <p:nvPr/>
        </p:nvSpPr>
        <p:spPr>
          <a:xfrm>
            <a:off x="301598" y="3975100"/>
            <a:ext cx="57594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C102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University of Arizona | BNAN 277, Group 13</a:t>
            </a:r>
          </a:p>
          <a:p>
            <a:pPr algn="ctr"/>
            <a:r>
              <a:rPr lang="en-US" sz="2400" b="1" i="1" dirty="0">
                <a:solidFill>
                  <a:srgbClr val="C102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December 18, 2025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B7A764-F0D0-1500-9B7C-DE4F1DF0A55E}"/>
              </a:ext>
            </a:extLst>
          </p:cNvPr>
          <p:cNvSpPr/>
          <p:nvPr/>
        </p:nvSpPr>
        <p:spPr>
          <a:xfrm>
            <a:off x="-2" y="6311900"/>
            <a:ext cx="12192001" cy="529656"/>
          </a:xfrm>
          <a:prstGeom prst="rect">
            <a:avLst/>
          </a:prstGeom>
          <a:solidFill>
            <a:srgbClr val="C1023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17029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08199F-1775-067C-2891-4E7B3738BD3B}"/>
              </a:ext>
            </a:extLst>
          </p:cNvPr>
          <p:cNvSpPr/>
          <p:nvPr/>
        </p:nvSpPr>
        <p:spPr>
          <a:xfrm>
            <a:off x="0" y="0"/>
            <a:ext cx="12192001" cy="529656"/>
          </a:xfrm>
          <a:prstGeom prst="rect">
            <a:avLst/>
          </a:prstGeom>
          <a:solidFill>
            <a:srgbClr val="213F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1B7970-6F86-C538-EDE5-A32203C12D71}"/>
              </a:ext>
            </a:extLst>
          </p:cNvPr>
          <p:cNvSpPr/>
          <p:nvPr/>
        </p:nvSpPr>
        <p:spPr>
          <a:xfrm>
            <a:off x="-2" y="6311900"/>
            <a:ext cx="12192001" cy="529656"/>
          </a:xfrm>
          <a:prstGeom prst="rect">
            <a:avLst/>
          </a:prstGeom>
          <a:solidFill>
            <a:srgbClr val="C1023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DB5E62C-E0F2-F63A-9958-9FFC59EF8E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5749" y="1248236"/>
            <a:ext cx="6261073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Purpose &amp; Objective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Overview &amp; Cleaning Process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Tableau Exploration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Regression Models Tested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Selected Model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Predictors &amp; Interpretation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Policy Recommendations for USDE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 &amp; Next Steps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9C3FCC-8843-41C9-DABB-3B462938B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749" y="105258"/>
            <a:ext cx="5110316" cy="31913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59A08B-0F34-2687-82D4-49FC94B96675}"/>
              </a:ext>
            </a:extLst>
          </p:cNvPr>
          <p:cNvSpPr/>
          <p:nvPr/>
        </p:nvSpPr>
        <p:spPr>
          <a:xfrm>
            <a:off x="7118556" y="1022555"/>
            <a:ext cx="4677696" cy="4670321"/>
          </a:xfrm>
          <a:prstGeom prst="rect">
            <a:avLst/>
          </a:prstGeom>
          <a:solidFill>
            <a:srgbClr val="213F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73A3B-B4CB-3DC2-102F-DDA6D4DB9690}"/>
              </a:ext>
            </a:extLst>
          </p:cNvPr>
          <p:cNvSpPr/>
          <p:nvPr/>
        </p:nvSpPr>
        <p:spPr>
          <a:xfrm>
            <a:off x="7118555" y="1022554"/>
            <a:ext cx="4677695" cy="24064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clipboard with a pencil&#10;&#10;AI-generated content may be incorrect.">
            <a:extLst>
              <a:ext uri="{FF2B5EF4-FFF2-40B4-BE49-F238E27FC236}">
                <a16:creationId xmlns:a16="http://schemas.microsoft.com/office/drawing/2014/main" id="{A6511F3F-4D8E-3306-28FB-A893F90FD7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760" y="1398825"/>
            <a:ext cx="3881284" cy="3881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325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F7C74-0330-8B80-36B4-32313E127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413" y="1818309"/>
            <a:ext cx="4923503" cy="4351338"/>
          </a:xfrm>
        </p:spPr>
        <p:txBody>
          <a:bodyPr/>
          <a:lstStyle/>
          <a:p>
            <a:r>
              <a:rPr lang="en-US" b="1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which institutional, geographic, and socioeconomic factors most strongly predict undergraduate graduation rates, and to provide data-driven recommendations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6A1C78-2E5B-C951-B2A5-8C7308A31663}"/>
              </a:ext>
            </a:extLst>
          </p:cNvPr>
          <p:cNvSpPr/>
          <p:nvPr/>
        </p:nvSpPr>
        <p:spPr>
          <a:xfrm>
            <a:off x="0" y="0"/>
            <a:ext cx="12192001" cy="529656"/>
          </a:xfrm>
          <a:prstGeom prst="rect">
            <a:avLst/>
          </a:prstGeom>
          <a:solidFill>
            <a:srgbClr val="213F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DC18F1-38DC-BDB6-B856-480A9188F58B}"/>
              </a:ext>
            </a:extLst>
          </p:cNvPr>
          <p:cNvSpPr/>
          <p:nvPr/>
        </p:nvSpPr>
        <p:spPr>
          <a:xfrm>
            <a:off x="-2" y="6311900"/>
            <a:ext cx="12192001" cy="529656"/>
          </a:xfrm>
          <a:prstGeom prst="rect">
            <a:avLst/>
          </a:prstGeom>
          <a:solidFill>
            <a:srgbClr val="C1023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FCAD5A-9CDB-1F98-CD12-7A59A0492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413" y="-142254"/>
            <a:ext cx="6132871" cy="814163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</a:t>
            </a:r>
          </a:p>
        </p:txBody>
      </p:sp>
      <p:pic>
        <p:nvPicPr>
          <p:cNvPr id="7" name="Picture 6" descr="A black and white building&#10;&#10;AI-generated content may be incorrect.">
            <a:extLst>
              <a:ext uri="{FF2B5EF4-FFF2-40B4-BE49-F238E27FC236}">
                <a16:creationId xmlns:a16="http://schemas.microsoft.com/office/drawing/2014/main" id="{1439BD52-1442-B292-C564-FE1ED1DD60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086" y="1128405"/>
            <a:ext cx="4149060" cy="4149060"/>
          </a:xfrm>
          <a:prstGeom prst="rect">
            <a:avLst/>
          </a:prstGeom>
          <a:solidFill>
            <a:srgbClr val="213F71"/>
          </a:solidFill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321040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31DAA-DAAC-47CA-7178-93D11E5FA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29655"/>
            <a:ext cx="6096000" cy="5776964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7400" b="1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Overview:</a:t>
            </a:r>
          </a:p>
          <a:p>
            <a:pPr marL="0" indent="0">
              <a:buNone/>
            </a:pPr>
            <a:endParaRPr lang="en-US" sz="7400" b="1" dirty="0">
              <a:solidFill>
                <a:srgbClr val="213F7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400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Source: U.S. Department of Education, College Scorecard</a:t>
            </a:r>
          </a:p>
          <a:p>
            <a:r>
              <a:rPr lang="en-US" sz="7400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dataset used for modeling: </a:t>
            </a:r>
            <a:r>
              <a:rPr lang="en-US" sz="7400" b="1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1,347 institutions</a:t>
            </a:r>
            <a:endParaRPr lang="en-US" sz="7400" dirty="0">
              <a:solidFill>
                <a:srgbClr val="213F7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400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Includes national coverage across all sectors and locations</a:t>
            </a:r>
          </a:p>
          <a:p>
            <a:r>
              <a:rPr lang="en-US" sz="7400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variable categories:</a:t>
            </a:r>
          </a:p>
          <a:p>
            <a:pPr lvl="1"/>
            <a:r>
              <a:rPr lang="en-US" sz="7400" b="1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Graduation rate </a:t>
            </a:r>
          </a:p>
          <a:p>
            <a:pPr lvl="1"/>
            <a:r>
              <a:rPr lang="en-US" sz="7400" b="1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Institution type</a:t>
            </a:r>
            <a:r>
              <a:rPr lang="en-US" sz="7400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/>
            <a:r>
              <a:rPr lang="en-US" sz="7400" b="1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Geographic setting</a:t>
            </a:r>
            <a:r>
              <a:rPr lang="en-US" sz="7400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/>
            <a:r>
              <a:rPr lang="en-US" sz="7400" b="1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Enrollment metrics</a:t>
            </a:r>
            <a:r>
              <a:rPr lang="en-US" sz="7400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/>
            <a:r>
              <a:rPr lang="en-US" sz="7400" b="1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indicators</a:t>
            </a:r>
            <a:r>
              <a:rPr lang="en-US" sz="7400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/>
            <a:r>
              <a:rPr lang="en-US" sz="7400" b="1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Admissions metrics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D14245-D597-E837-015E-9E40E1C90865}"/>
              </a:ext>
            </a:extLst>
          </p:cNvPr>
          <p:cNvSpPr/>
          <p:nvPr/>
        </p:nvSpPr>
        <p:spPr>
          <a:xfrm>
            <a:off x="-3" y="0"/>
            <a:ext cx="12192001" cy="529656"/>
          </a:xfrm>
          <a:prstGeom prst="rect">
            <a:avLst/>
          </a:prstGeom>
          <a:solidFill>
            <a:srgbClr val="213F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78F43C-7CB3-C740-858A-A5ACE1151751}"/>
              </a:ext>
            </a:extLst>
          </p:cNvPr>
          <p:cNvSpPr/>
          <p:nvPr/>
        </p:nvSpPr>
        <p:spPr>
          <a:xfrm>
            <a:off x="-2" y="6311900"/>
            <a:ext cx="12192001" cy="529656"/>
          </a:xfrm>
          <a:prstGeom prst="rect">
            <a:avLst/>
          </a:prstGeom>
          <a:solidFill>
            <a:srgbClr val="C1023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C05E9F-1787-13B4-63BB-D7CFB41D2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9" y="74152"/>
            <a:ext cx="7243916" cy="460785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Data Summary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253596-676F-9473-9B87-3C8C50AE0096}"/>
              </a:ext>
            </a:extLst>
          </p:cNvPr>
          <p:cNvSpPr txBox="1"/>
          <p:nvPr/>
        </p:nvSpPr>
        <p:spPr>
          <a:xfrm>
            <a:off x="6096001" y="524374"/>
            <a:ext cx="60959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213F71"/>
                </a:solidFill>
              </a:rPr>
              <a:t>Data Cleaning &amp; Preparation:</a:t>
            </a:r>
          </a:p>
          <a:p>
            <a:pPr>
              <a:buNone/>
            </a:pPr>
            <a:endParaRPr lang="en-US" sz="2400" b="1" dirty="0">
              <a:solidFill>
                <a:srgbClr val="213F7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13F71"/>
                </a:solidFill>
              </a:rPr>
              <a:t>Removed institutions with missing graduation rate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13F71"/>
                </a:solidFill>
              </a:rPr>
              <a:t>Filtered out incomplete or unusable rows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13F71"/>
                </a:solidFill>
              </a:rPr>
              <a:t>Created </a:t>
            </a:r>
            <a:r>
              <a:rPr lang="en-US" sz="2400" b="1" dirty="0">
                <a:solidFill>
                  <a:srgbClr val="213F71"/>
                </a:solidFill>
              </a:rPr>
              <a:t>dummy variables</a:t>
            </a:r>
            <a:r>
              <a:rPr lang="en-US" sz="2400" dirty="0">
                <a:solidFill>
                  <a:srgbClr val="213F71"/>
                </a:solidFill>
              </a:rPr>
              <a:t> for categorical fields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13F71"/>
                </a:solidFill>
              </a:rPr>
              <a:t>Standardized numeric variables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13F71"/>
                </a:solidFill>
              </a:rPr>
              <a:t>Addressed missing values in financial aid and admissions fields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13F71"/>
                </a:solidFill>
              </a:rPr>
              <a:t>Selected </a:t>
            </a:r>
            <a:r>
              <a:rPr lang="en-US" sz="2400" b="1" dirty="0">
                <a:solidFill>
                  <a:srgbClr val="213F71"/>
                </a:solidFill>
              </a:rPr>
              <a:t>6-year graduation rate</a:t>
            </a:r>
            <a:r>
              <a:rPr lang="en-US" sz="2400" dirty="0">
                <a:solidFill>
                  <a:srgbClr val="213F71"/>
                </a:solidFill>
              </a:rPr>
              <a:t> as the dependent variable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4C54DB5-62F0-EA3C-D5A0-8ECB6CF34DBE}"/>
              </a:ext>
            </a:extLst>
          </p:cNvPr>
          <p:cNvCxnSpPr>
            <a:cxnSpLocks/>
          </p:cNvCxnSpPr>
          <p:nvPr/>
        </p:nvCxnSpPr>
        <p:spPr>
          <a:xfrm>
            <a:off x="130279" y="806245"/>
            <a:ext cx="2249127" cy="0"/>
          </a:xfrm>
          <a:prstGeom prst="line">
            <a:avLst/>
          </a:prstGeom>
          <a:ln>
            <a:solidFill>
              <a:srgbClr val="C10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B034A3-D1B0-5B15-AD7D-B976BFE67DC6}"/>
              </a:ext>
            </a:extLst>
          </p:cNvPr>
          <p:cNvCxnSpPr>
            <a:cxnSpLocks/>
          </p:cNvCxnSpPr>
          <p:nvPr/>
        </p:nvCxnSpPr>
        <p:spPr>
          <a:xfrm>
            <a:off x="6172202" y="889820"/>
            <a:ext cx="3984521" cy="0"/>
          </a:xfrm>
          <a:prstGeom prst="line">
            <a:avLst/>
          </a:prstGeom>
          <a:ln>
            <a:solidFill>
              <a:srgbClr val="C10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917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FB2BE2C-114B-EE60-977E-67785F67CAB4}"/>
              </a:ext>
            </a:extLst>
          </p:cNvPr>
          <p:cNvSpPr/>
          <p:nvPr/>
        </p:nvSpPr>
        <p:spPr>
          <a:xfrm>
            <a:off x="-1" y="0"/>
            <a:ext cx="12192001" cy="529656"/>
          </a:xfrm>
          <a:prstGeom prst="rect">
            <a:avLst/>
          </a:prstGeom>
          <a:solidFill>
            <a:srgbClr val="213F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60037C-0214-7677-3B62-46FE5ED936F7}"/>
              </a:ext>
            </a:extLst>
          </p:cNvPr>
          <p:cNvSpPr/>
          <p:nvPr/>
        </p:nvSpPr>
        <p:spPr>
          <a:xfrm>
            <a:off x="-2" y="6311900"/>
            <a:ext cx="12192001" cy="529656"/>
          </a:xfrm>
          <a:prstGeom prst="rect">
            <a:avLst/>
          </a:prstGeom>
          <a:solidFill>
            <a:srgbClr val="C1023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675554-E4B8-3558-C080-0CEC5A2EF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923" y="-231794"/>
            <a:ext cx="9760974" cy="105609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Tableau Findings ( United States Map)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F517B0A-B01E-6376-2C9F-F5E049AF3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418" y="1530977"/>
            <a:ext cx="6099581" cy="3062259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11CB5280-F3C5-91C2-84C0-F6B5458964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973954"/>
            <a:ext cx="6099582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Midwestern and Southern states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percentages of freshmen receiving financial aid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(darker colors).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East and West Coast states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generally have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 financial aid rates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(lighter colors).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aid percentages range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80% to 97%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across states.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Hover tooltips reveal each state's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financial aid, total admissions, and total enrollment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institution-type filter allows comparison, but overall patterns remain consistent across types.</a:t>
            </a:r>
          </a:p>
        </p:txBody>
      </p:sp>
    </p:spTree>
    <p:extLst>
      <p:ext uri="{BB962C8B-B14F-4D97-AF65-F5344CB8AC3E}">
        <p14:creationId xmlns:p14="http://schemas.microsoft.com/office/powerpoint/2010/main" val="1483076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A9497-0864-D1BD-6E46-F7F5DC769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21CEC14-85C7-49E2-47B8-08A15EE62558}"/>
              </a:ext>
            </a:extLst>
          </p:cNvPr>
          <p:cNvSpPr/>
          <p:nvPr/>
        </p:nvSpPr>
        <p:spPr>
          <a:xfrm>
            <a:off x="-1" y="0"/>
            <a:ext cx="12192001" cy="529656"/>
          </a:xfrm>
          <a:prstGeom prst="rect">
            <a:avLst/>
          </a:prstGeom>
          <a:solidFill>
            <a:srgbClr val="213F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48FDBF-2CFE-AF3D-E659-DA1BA186FDF8}"/>
              </a:ext>
            </a:extLst>
          </p:cNvPr>
          <p:cNvSpPr/>
          <p:nvPr/>
        </p:nvSpPr>
        <p:spPr>
          <a:xfrm>
            <a:off x="-2" y="6311900"/>
            <a:ext cx="12192001" cy="529656"/>
          </a:xfrm>
          <a:prstGeom prst="rect">
            <a:avLst/>
          </a:prstGeom>
          <a:solidFill>
            <a:srgbClr val="C1023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99A4D-3425-D180-F3CC-510EAEC84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923" y="-231794"/>
            <a:ext cx="9760974" cy="105609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Tableau Findings ( Bar Chart)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FCC57-8E03-4774-324D-C85ED4E9C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" y="1253331"/>
            <a:ext cx="6096002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Religious Affiliation Analysis:</a:t>
            </a:r>
            <a:endParaRPr lang="en-US" dirty="0">
              <a:solidFill>
                <a:srgbClr val="213F7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most common religious affiliations among institutions are:</a:t>
            </a:r>
            <a:br>
              <a:rPr lang="en-US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Evangelical Lutheran</a:t>
            </a:r>
            <a:br>
              <a:rPr lang="en-US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Baptist</a:t>
            </a:r>
            <a:br>
              <a:rPr lang="en-US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Non-religious</a:t>
            </a:r>
            <a:r>
              <a:rPr lang="en-US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students</a:t>
            </a:r>
          </a:p>
          <a:p>
            <a:r>
              <a:rPr lang="en-US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region filter allows you to compare how religious affiliation varies across different areas of the U.S.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C5FAA2-8FD4-2F36-AA9E-73FAB839C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49541"/>
            <a:ext cx="6096002" cy="351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6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B3560-18AD-EBDC-A3F8-11203D5A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63D389-9715-0FE8-179E-310318E42F52}"/>
              </a:ext>
            </a:extLst>
          </p:cNvPr>
          <p:cNvSpPr/>
          <p:nvPr/>
        </p:nvSpPr>
        <p:spPr>
          <a:xfrm>
            <a:off x="-1" y="0"/>
            <a:ext cx="12192001" cy="529656"/>
          </a:xfrm>
          <a:prstGeom prst="rect">
            <a:avLst/>
          </a:prstGeom>
          <a:solidFill>
            <a:srgbClr val="213F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34B678-3004-46F0-7311-090093B24585}"/>
              </a:ext>
            </a:extLst>
          </p:cNvPr>
          <p:cNvSpPr/>
          <p:nvPr/>
        </p:nvSpPr>
        <p:spPr>
          <a:xfrm>
            <a:off x="-2" y="6311900"/>
            <a:ext cx="12192001" cy="529656"/>
          </a:xfrm>
          <a:prstGeom prst="rect">
            <a:avLst/>
          </a:prstGeom>
          <a:solidFill>
            <a:srgbClr val="C1023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3560C-EE28-F637-7949-378F52267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923" y="-231794"/>
            <a:ext cx="9760974" cy="105609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Tableau Findings ( Scatterplot)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292C2F-1504-22D6-CE6A-277145AF0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057" y="1531535"/>
            <a:ext cx="6081943" cy="3207294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59799530-8FE1-428D-359F-840270DECA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-2" y="754273"/>
            <a:ext cx="6081944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scatterplot compares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full-time vs. part-time enrollment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across institutions.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schools cluster closely together, showing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similar enrollment patterns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nationwide.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Full-time enrollment is consistently higher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than part-time enrollment at the majority of institutions.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a small number of schools show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part-time enrollment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which may indicate limited full-time capacity or different program structures.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Hovering over each point reveals specific school details, including average full-time and part-time numbers.</a:t>
            </a:r>
          </a:p>
        </p:txBody>
      </p:sp>
    </p:spTree>
    <p:extLst>
      <p:ext uri="{BB962C8B-B14F-4D97-AF65-F5344CB8AC3E}">
        <p14:creationId xmlns:p14="http://schemas.microsoft.com/office/powerpoint/2010/main" val="2824370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AC5F8-0CBD-49FF-3D65-E760C9A86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8FF252-F3E0-5DD7-4748-7D25D02D78FD}"/>
              </a:ext>
            </a:extLst>
          </p:cNvPr>
          <p:cNvSpPr/>
          <p:nvPr/>
        </p:nvSpPr>
        <p:spPr>
          <a:xfrm>
            <a:off x="-1" y="0"/>
            <a:ext cx="12192001" cy="529656"/>
          </a:xfrm>
          <a:prstGeom prst="rect">
            <a:avLst/>
          </a:prstGeom>
          <a:solidFill>
            <a:srgbClr val="213F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55C5A2-0A3C-EC61-2332-69818DC900AC}"/>
              </a:ext>
            </a:extLst>
          </p:cNvPr>
          <p:cNvSpPr/>
          <p:nvPr/>
        </p:nvSpPr>
        <p:spPr>
          <a:xfrm>
            <a:off x="-2" y="6311900"/>
            <a:ext cx="12192001" cy="529656"/>
          </a:xfrm>
          <a:prstGeom prst="rect">
            <a:avLst/>
          </a:prstGeom>
          <a:solidFill>
            <a:srgbClr val="C1023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4000BA-B970-F402-4779-C00F390AF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923" y="-231794"/>
            <a:ext cx="9760974" cy="105609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Tableau Findings ( Line Graph)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FC2A1-F21E-3618-1E0D-17B870B9B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42" y="604402"/>
            <a:ext cx="6096002" cy="5296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213F71"/>
                </a:solidFill>
              </a:rPr>
              <a:t>Bachelor’s vs. Master’s vs. Doctorate’s:</a:t>
            </a:r>
          </a:p>
          <a:p>
            <a:pPr marL="0" indent="0">
              <a:buNone/>
            </a:pPr>
            <a:endParaRPr lang="en-US" sz="2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D3FF7F-A838-743C-A7D2-692E15D67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8" y="1253330"/>
            <a:ext cx="6073760" cy="3554643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936E2B0F-E642-3869-C4AD-C8449E41A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42" y="1464418"/>
            <a:ext cx="6118246" cy="4293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line graph compares the number of students pursuing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Bachelor’s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Master’s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Doctoral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degrees across all U.S. states.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Bachelor’s degree enrollment is significantly higher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every state, making it the dominant academic path.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Master’s degree enrollment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lower but shows moderate variation across states.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Doctoral enrollment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smallest and remains consistently low nationwide.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Clicking a point reveals the state, degree type, and number of students.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Filters allow users to explore differences by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geographic region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urbanization level.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rgbClr val="213F7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641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CFB40-FA27-7680-3269-5407E4211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8E748D-3FCE-EEAD-4B8A-C7F70A56C6BF}"/>
              </a:ext>
            </a:extLst>
          </p:cNvPr>
          <p:cNvSpPr/>
          <p:nvPr/>
        </p:nvSpPr>
        <p:spPr>
          <a:xfrm>
            <a:off x="-1" y="0"/>
            <a:ext cx="12192001" cy="529656"/>
          </a:xfrm>
          <a:prstGeom prst="rect">
            <a:avLst/>
          </a:prstGeom>
          <a:solidFill>
            <a:srgbClr val="213F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92730A-721F-7DC8-685E-87D73B703315}"/>
              </a:ext>
            </a:extLst>
          </p:cNvPr>
          <p:cNvSpPr/>
          <p:nvPr/>
        </p:nvSpPr>
        <p:spPr>
          <a:xfrm>
            <a:off x="-2" y="6311900"/>
            <a:ext cx="12192001" cy="529656"/>
          </a:xfrm>
          <a:prstGeom prst="rect">
            <a:avLst/>
          </a:prstGeom>
          <a:solidFill>
            <a:srgbClr val="C1023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A88A4B-F9E2-AC2F-116D-8880BD989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923" y="-231794"/>
            <a:ext cx="9760974" cy="105609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Tableau Findings ( Tree Map)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96E76-AC36-7458-7EE4-6B301F300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" y="824304"/>
            <a:ext cx="6096002" cy="51929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Admissions by Region:</a:t>
            </a:r>
          </a:p>
          <a:p>
            <a:r>
              <a:rPr lang="en-US" sz="2600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tree map shows </a:t>
            </a:r>
            <a:r>
              <a:rPr lang="en-US" sz="2600" b="1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admissions</a:t>
            </a:r>
            <a:r>
              <a:rPr lang="en-US" sz="2600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600" b="1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percent admitted</a:t>
            </a:r>
            <a:r>
              <a:rPr lang="en-US" sz="2600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across eight U.S. regions.</a:t>
            </a:r>
          </a:p>
          <a:p>
            <a:r>
              <a:rPr lang="en-US" sz="2600" b="1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Larger regions on the map represent higher total admissions</a:t>
            </a:r>
            <a:r>
              <a:rPr lang="en-US" sz="2600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typically associated with bigger institutions.</a:t>
            </a:r>
          </a:p>
          <a:p>
            <a:r>
              <a:rPr lang="en-US" sz="2600" b="1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Smaller regions tend to have higher admission percentages</a:t>
            </a:r>
            <a:r>
              <a:rPr lang="en-US" sz="2600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less selective schools.</a:t>
            </a:r>
          </a:p>
          <a:p>
            <a:r>
              <a:rPr lang="en-US" sz="2600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filter allows comparison between </a:t>
            </a:r>
            <a:r>
              <a:rPr lang="en-US" sz="2600" b="1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vs. private</a:t>
            </a:r>
            <a:r>
              <a:rPr lang="en-US" sz="2600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institutions.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6A8725-A3ED-1D46-0022-B0220C4DA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8" y="1345929"/>
            <a:ext cx="6039347" cy="390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104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1D82B-5564-A958-6A89-78DC7FC8C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837E3B-F250-3597-AA8C-4FABC3A5EEA7}"/>
              </a:ext>
            </a:extLst>
          </p:cNvPr>
          <p:cNvSpPr/>
          <p:nvPr/>
        </p:nvSpPr>
        <p:spPr>
          <a:xfrm>
            <a:off x="-1" y="0"/>
            <a:ext cx="12192001" cy="529656"/>
          </a:xfrm>
          <a:prstGeom prst="rect">
            <a:avLst/>
          </a:prstGeom>
          <a:solidFill>
            <a:srgbClr val="213F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EB40CE-86C1-FDC5-3A3A-F5808BDD4815}"/>
              </a:ext>
            </a:extLst>
          </p:cNvPr>
          <p:cNvSpPr/>
          <p:nvPr/>
        </p:nvSpPr>
        <p:spPr>
          <a:xfrm>
            <a:off x="-2" y="6318766"/>
            <a:ext cx="12192001" cy="529656"/>
          </a:xfrm>
          <a:prstGeom prst="rect">
            <a:avLst/>
          </a:prstGeom>
          <a:solidFill>
            <a:srgbClr val="C1023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 Tableau Dashboards: </a:t>
            </a:r>
            <a:r>
              <a:rPr lang="en-US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https://public.tableau.com/shared/GJY3B6QT8?:display_count=n&amp;:origin=viz_share_link</a:t>
            </a:r>
            <a:endParaRPr lang="en-US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AC5609-0759-F93A-0D50-592068A49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923" y="-231794"/>
            <a:ext cx="9760974" cy="105609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Tableau Findings ( Pie Chart)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0899A1B-E97D-2E38-A654-2CA68B3A2E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23319" y="1056098"/>
            <a:ext cx="5744903" cy="43586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228C33-A936-5FFF-E662-123B0B631EB2}"/>
              </a:ext>
            </a:extLst>
          </p:cNvPr>
          <p:cNvSpPr txBox="1"/>
          <p:nvPr/>
        </p:nvSpPr>
        <p:spPr>
          <a:xfrm>
            <a:off x="0" y="562694"/>
            <a:ext cx="43376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Tuition Institutions:</a:t>
            </a:r>
            <a:endParaRPr lang="en-US" sz="2800" dirty="0">
              <a:solidFill>
                <a:srgbClr val="213F7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8580CFA4-1ADA-58F8-B343-AD7040683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923" y="1527952"/>
            <a:ext cx="472440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pie chart highlights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five most expensive institutions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based on tuition and fees.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five schools have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similarly high tuition costs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significantly above the national average.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high costs may influence student access and graduation outcomes due to increased financial burden.</a:t>
            </a:r>
          </a:p>
        </p:txBody>
      </p:sp>
    </p:spTree>
    <p:extLst>
      <p:ext uri="{BB962C8B-B14F-4D97-AF65-F5344CB8AC3E}">
        <p14:creationId xmlns:p14="http://schemas.microsoft.com/office/powerpoint/2010/main" val="2172726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A6B92-C318-3827-9358-B273083B8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" y="649242"/>
            <a:ext cx="6096000" cy="289934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1 – Baseline Predictors</a:t>
            </a:r>
          </a:p>
          <a:p>
            <a:r>
              <a:rPr lang="en-US" sz="2600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Included: Public/Private, Applicants, Admissions, Basic Location </a:t>
            </a:r>
          </a:p>
          <a:p>
            <a:r>
              <a:rPr lang="en-US" sz="2600" b="1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R² ≈ 0.31</a:t>
            </a:r>
            <a:endParaRPr lang="en-US" sz="2600" dirty="0">
              <a:solidFill>
                <a:srgbClr val="213F7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600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 Establish a foundational model with essential structural variables.</a:t>
            </a:r>
          </a:p>
          <a:p>
            <a:r>
              <a:rPr lang="en-US" sz="2600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Result: Many predictors were significant but explanatory power was limited.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AA6A53-0A47-4FAF-5CEE-9E22F8509D80}"/>
              </a:ext>
            </a:extLst>
          </p:cNvPr>
          <p:cNvSpPr/>
          <p:nvPr/>
        </p:nvSpPr>
        <p:spPr>
          <a:xfrm>
            <a:off x="-1" y="0"/>
            <a:ext cx="12192001" cy="529656"/>
          </a:xfrm>
          <a:prstGeom prst="rect">
            <a:avLst/>
          </a:prstGeom>
          <a:solidFill>
            <a:srgbClr val="213F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3C8F33-8547-3959-5C9A-5E9D78AFE72C}"/>
              </a:ext>
            </a:extLst>
          </p:cNvPr>
          <p:cNvSpPr/>
          <p:nvPr/>
        </p:nvSpPr>
        <p:spPr>
          <a:xfrm>
            <a:off x="-2" y="6311900"/>
            <a:ext cx="12192001" cy="529656"/>
          </a:xfrm>
          <a:prstGeom prst="rect">
            <a:avLst/>
          </a:prstGeom>
          <a:solidFill>
            <a:srgbClr val="C1023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6AFE70-B083-DBB5-BEF5-521823E0D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271" y="-255616"/>
            <a:ext cx="9682316" cy="104088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Regression Process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4F11EC-1415-BC0D-DD9B-D3DEAD2C70EC}"/>
              </a:ext>
            </a:extLst>
          </p:cNvPr>
          <p:cNvSpPr txBox="1"/>
          <p:nvPr/>
        </p:nvSpPr>
        <p:spPr>
          <a:xfrm>
            <a:off x="0" y="3387969"/>
            <a:ext cx="626012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2–4  Adding Institutional Characteristics</a:t>
            </a:r>
          </a:p>
          <a:p>
            <a:pPr>
              <a:buNone/>
            </a:pP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added variables step-by-step to test: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School type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Urbanization sub-categories</a:t>
            </a:r>
          </a:p>
          <a:p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Enrollment variables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55B649-BEBB-ED3F-1024-E83E8AB35794}"/>
              </a:ext>
            </a:extLst>
          </p:cNvPr>
          <p:cNvSpPr txBox="1"/>
          <p:nvPr/>
        </p:nvSpPr>
        <p:spPr>
          <a:xfrm>
            <a:off x="6043246" y="570015"/>
            <a:ext cx="61487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Outcome (Models 2 &amp; 4)</a:t>
            </a:r>
            <a:endParaRPr lang="en-US" sz="24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full-time enrollment and rural/city indicators consistently mattered.</a:t>
            </a:r>
          </a:p>
          <a:p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R² improved slightly (0.29 → 0.35), but many added variables were </a:t>
            </a: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insignificant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complexity increased.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E0DA72-5602-1F89-619C-17412165506C}"/>
              </a:ext>
            </a:extLst>
          </p:cNvPr>
          <p:cNvSpPr txBox="1"/>
          <p:nvPr/>
        </p:nvSpPr>
        <p:spPr>
          <a:xfrm>
            <a:off x="6043245" y="3387969"/>
            <a:ext cx="614875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213F71"/>
                </a:solidFill>
              </a:rPr>
              <a:t>Model 5 – Adding Financial Aid 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13F71"/>
                </a:solidFill>
              </a:rPr>
              <a:t>Added: Pell Grants, Institutional Aid, Federal Grants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13F71"/>
                </a:solidFill>
              </a:rPr>
              <a:t>Improvement:</a:t>
            </a:r>
            <a:r>
              <a:rPr lang="en-US" sz="2400" dirty="0">
                <a:solidFill>
                  <a:srgbClr val="213F71"/>
                </a:solidFill>
              </a:rPr>
              <a:t> R² jumped to </a:t>
            </a:r>
            <a:r>
              <a:rPr lang="en-US" sz="2400" b="1" dirty="0">
                <a:solidFill>
                  <a:srgbClr val="213F71"/>
                </a:solidFill>
              </a:rPr>
              <a:t>0.68</a:t>
            </a:r>
            <a:endParaRPr lang="en-US" sz="2400" dirty="0">
              <a:solidFill>
                <a:srgbClr val="213F7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13F71"/>
                </a:solidFill>
              </a:rPr>
              <a:t>Pell Grants emerged as the </a:t>
            </a:r>
            <a:r>
              <a:rPr lang="en-US" sz="2400" b="1" dirty="0">
                <a:solidFill>
                  <a:srgbClr val="213F71"/>
                </a:solidFill>
              </a:rPr>
              <a:t>strongest predictor</a:t>
            </a:r>
            <a:r>
              <a:rPr lang="en-US" sz="2400" dirty="0">
                <a:solidFill>
                  <a:srgbClr val="213F71"/>
                </a:solidFill>
              </a:rPr>
              <a:t> across all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13F71"/>
                </a:solidFill>
              </a:rPr>
              <a:t>Aid-related variables significantly increased explanatory power.</a:t>
            </a:r>
          </a:p>
        </p:txBody>
      </p:sp>
    </p:spTree>
    <p:extLst>
      <p:ext uri="{BB962C8B-B14F-4D97-AF65-F5344CB8AC3E}">
        <p14:creationId xmlns:p14="http://schemas.microsoft.com/office/powerpoint/2010/main" val="1541361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43863A-0BD8-318E-1BE5-0890329490C9}"/>
              </a:ext>
            </a:extLst>
          </p:cNvPr>
          <p:cNvSpPr/>
          <p:nvPr/>
        </p:nvSpPr>
        <p:spPr>
          <a:xfrm>
            <a:off x="-1" y="0"/>
            <a:ext cx="12192001" cy="529656"/>
          </a:xfrm>
          <a:prstGeom prst="rect">
            <a:avLst/>
          </a:prstGeom>
          <a:solidFill>
            <a:srgbClr val="213F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882050-A609-E84A-4CDC-85D511F4044E}"/>
              </a:ext>
            </a:extLst>
          </p:cNvPr>
          <p:cNvSpPr/>
          <p:nvPr/>
        </p:nvSpPr>
        <p:spPr>
          <a:xfrm>
            <a:off x="-2" y="6311900"/>
            <a:ext cx="12192001" cy="529656"/>
          </a:xfrm>
          <a:prstGeom prst="rect">
            <a:avLst/>
          </a:prstGeom>
          <a:solidFill>
            <a:srgbClr val="C1023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C7A380-6645-0078-0EFA-21D228A06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090" y="-201539"/>
            <a:ext cx="10515600" cy="93273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Final and Best Regression Model + Why?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D0F188-0551-71FE-D4BE-42D6E331F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509" y="1354789"/>
            <a:ext cx="6095491" cy="4018736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71D32662-BE0F-7A05-C973-9A2A214D01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-2" y="701889"/>
            <a:ext cx="6095491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model fit: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R² =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0.69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13F7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institutions graduate fewer students (negative coefficient)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applicants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higher graduation rate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City and rural locations both show lower graduation rates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total enrollment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lower graduation rate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full-time enrollment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higher graduation rate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% of Pell Grant freshmen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strongly lower graduation rates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Institutional grant aid % has a small negative effect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acceptance rate &amp; yield rate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lower graduation rates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dirty="0">
              <a:solidFill>
                <a:srgbClr val="213F7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solidFill>
                  <a:srgbClr val="213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Graduation success is shaped by institution type, financial need, selectivity, and student enrollment structure.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213F7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234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blue circle with a white thumb up&#10;&#10;AI-generated content may be incorrect.">
            <a:extLst>
              <a:ext uri="{FF2B5EF4-FFF2-40B4-BE49-F238E27FC236}">
                <a16:creationId xmlns:a16="http://schemas.microsoft.com/office/drawing/2014/main" id="{42E355AE-C960-FA75-36F3-D2D4ADF4CE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171" y="1650572"/>
            <a:ext cx="3556855" cy="3556855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64FB50D-B963-59C6-4C89-DA567A7FBA13}"/>
              </a:ext>
            </a:extLst>
          </p:cNvPr>
          <p:cNvSpPr/>
          <p:nvPr/>
        </p:nvSpPr>
        <p:spPr>
          <a:xfrm>
            <a:off x="0" y="-1"/>
            <a:ext cx="12192001" cy="529656"/>
          </a:xfrm>
          <a:prstGeom prst="rect">
            <a:avLst/>
          </a:prstGeom>
          <a:solidFill>
            <a:srgbClr val="213F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60AE7E-25EB-7B1C-6657-2B16D345B415}"/>
              </a:ext>
            </a:extLst>
          </p:cNvPr>
          <p:cNvSpPr/>
          <p:nvPr/>
        </p:nvSpPr>
        <p:spPr>
          <a:xfrm>
            <a:off x="-2" y="6311900"/>
            <a:ext cx="12192001" cy="529656"/>
          </a:xfrm>
          <a:prstGeom prst="rect">
            <a:avLst/>
          </a:prstGeom>
          <a:solidFill>
            <a:srgbClr val="C1023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530471-0D0A-3A99-AC6C-0CB130387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426" y="-231036"/>
            <a:ext cx="10515600" cy="991727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Recommendation</a:t>
            </a: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BFB918F9-ACE8-3FA6-EB6E-0D7338AB6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" y="433367"/>
            <a:ext cx="5972537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selectivity: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Schools with more applicants and lower admission rates have higher graduation outcomes.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 enrollment size: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Admitting fewer students is associated with higher graduation rates.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Promote full-time enrollment: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Higher full-time enrollment strongly improves graduation success.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Address financial need barriers: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higher share of Pell Grant recipients is linked to lower graduation rates, indicating a need for stronger support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Institutional context matters: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Private institutions, particularly in rural areas, tend to achieve better graduation outcomes.</a:t>
            </a:r>
          </a:p>
        </p:txBody>
      </p:sp>
    </p:spTree>
    <p:extLst>
      <p:ext uri="{BB962C8B-B14F-4D97-AF65-F5344CB8AC3E}">
        <p14:creationId xmlns:p14="http://schemas.microsoft.com/office/powerpoint/2010/main" val="2162604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58232A-20D9-2CEE-CA76-79BD5B603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50C86D8-8B77-E987-F9FE-92C623B0EC55}"/>
              </a:ext>
            </a:extLst>
          </p:cNvPr>
          <p:cNvSpPr/>
          <p:nvPr/>
        </p:nvSpPr>
        <p:spPr>
          <a:xfrm>
            <a:off x="-1" y="0"/>
            <a:ext cx="7858839" cy="529656"/>
          </a:xfrm>
          <a:prstGeom prst="rect">
            <a:avLst/>
          </a:prstGeom>
          <a:solidFill>
            <a:srgbClr val="213F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Final Thoughts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896B040-07AE-9D0E-F8A4-E5F3F77BEFA2}"/>
              </a:ext>
            </a:extLst>
          </p:cNvPr>
          <p:cNvSpPr/>
          <p:nvPr/>
        </p:nvSpPr>
        <p:spPr>
          <a:xfrm>
            <a:off x="6362664" y="-1274916"/>
            <a:ext cx="7753386" cy="7421716"/>
          </a:xfrm>
          <a:prstGeom prst="ellipse">
            <a:avLst/>
          </a:prstGeom>
          <a:solidFill>
            <a:srgbClr val="C10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B800266-8F1B-5D0B-5045-EFD65022C7A5}"/>
              </a:ext>
            </a:extLst>
          </p:cNvPr>
          <p:cNvSpPr/>
          <p:nvPr/>
        </p:nvSpPr>
        <p:spPr>
          <a:xfrm>
            <a:off x="7327864" y="-1821016"/>
            <a:ext cx="7753386" cy="74217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B31CDA-1F93-6D90-344A-72C48A9E1264}"/>
              </a:ext>
            </a:extLst>
          </p:cNvPr>
          <p:cNvSpPr/>
          <p:nvPr/>
        </p:nvSpPr>
        <p:spPr>
          <a:xfrm>
            <a:off x="-2" y="6311900"/>
            <a:ext cx="12192001" cy="529656"/>
          </a:xfrm>
          <a:prstGeom prst="rect">
            <a:avLst/>
          </a:prstGeom>
          <a:solidFill>
            <a:srgbClr val="C1023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5" name="Content Placeholder 8" descr="A black and white logo&#10;&#10;AI-generated content may be incorrect.">
            <a:extLst>
              <a:ext uri="{FF2B5EF4-FFF2-40B4-BE49-F238E27FC236}">
                <a16:creationId xmlns:a16="http://schemas.microsoft.com/office/drawing/2014/main" id="{6DB99D5C-96F4-F19A-E2FA-632FBD576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5184" y="216958"/>
            <a:ext cx="5095867" cy="4335908"/>
          </a:xfrm>
          <a:prstGeom prst="ellipse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2267A7D-64FF-DDB6-1BBC-2EAE3DF4EBB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0" y="1969992"/>
            <a:ext cx="60960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Graduation outcomes are driven primarily by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need, selectivity, and enrollment structure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Institutions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applicant demand and higher full-time enrollment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perform best.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Pell-eligible students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13F7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critical for improving national graduation rates.</a:t>
            </a:r>
          </a:p>
        </p:txBody>
      </p:sp>
    </p:spTree>
    <p:extLst>
      <p:ext uri="{BB962C8B-B14F-4D97-AF65-F5344CB8AC3E}">
        <p14:creationId xmlns:p14="http://schemas.microsoft.com/office/powerpoint/2010/main" val="506553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D57C9-6B7C-39CD-EB33-3618B714C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529" y="2766218"/>
            <a:ext cx="6442277" cy="1325563"/>
          </a:xfrm>
        </p:spPr>
        <p:txBody>
          <a:bodyPr>
            <a:noAutofit/>
          </a:bodyPr>
          <a:lstStyle/>
          <a:p>
            <a:r>
              <a:rPr lang="en-US" sz="12000" b="1" dirty="0">
                <a:solidFill>
                  <a:srgbClr val="213F71"/>
                </a:solidFill>
                <a:latin typeface="Kunstler Script" panose="030304020206070D0D06" pitchFamily="66" charset="0"/>
              </a:rPr>
              <a:t>Thank You!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D26A78-D1EC-86DC-1756-C07C1E46E1AD}"/>
              </a:ext>
            </a:extLst>
          </p:cNvPr>
          <p:cNvSpPr/>
          <p:nvPr/>
        </p:nvSpPr>
        <p:spPr>
          <a:xfrm>
            <a:off x="-2" y="6311900"/>
            <a:ext cx="12192001" cy="529656"/>
          </a:xfrm>
          <a:prstGeom prst="rect">
            <a:avLst/>
          </a:prstGeom>
          <a:solidFill>
            <a:srgbClr val="C1023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57A419-BE70-99C7-0D88-90CC3DB0FCB3}"/>
              </a:ext>
            </a:extLst>
          </p:cNvPr>
          <p:cNvSpPr/>
          <p:nvPr/>
        </p:nvSpPr>
        <p:spPr>
          <a:xfrm>
            <a:off x="-1" y="0"/>
            <a:ext cx="12192000" cy="529656"/>
          </a:xfrm>
          <a:prstGeom prst="rect">
            <a:avLst/>
          </a:prstGeom>
          <a:solidFill>
            <a:srgbClr val="213F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406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b45a454-052c-4747-9570-fa775f0972b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B40C49E5D7284F9E71935C596456D7" ma:contentTypeVersion="5" ma:contentTypeDescription="Create a new document." ma:contentTypeScope="" ma:versionID="0225e273acc4af74896d90ff2a1ac5ef">
  <xsd:schema xmlns:xsd="http://www.w3.org/2001/XMLSchema" xmlns:xs="http://www.w3.org/2001/XMLSchema" xmlns:p="http://schemas.microsoft.com/office/2006/metadata/properties" xmlns:ns3="fb45a454-052c-4747-9570-fa775f0972bd" targetNamespace="http://schemas.microsoft.com/office/2006/metadata/properties" ma:root="true" ma:fieldsID="c38f7f62c867d36d30980261569ced54" ns3:_="">
    <xsd:import namespace="fb45a454-052c-4747-9570-fa775f0972b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45a454-052c-4747-9570-fa775f0972b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E488C3-CFD5-4422-BE71-FDED79493C10}">
  <ds:schemaRefs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dcmitype/"/>
    <ds:schemaRef ds:uri="fb45a454-052c-4747-9570-fa775f0972bd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2D1CEC2B-B72E-497B-A574-82E2EAAC2ED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798438-BE98-4CEF-8059-52D41A68A7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45a454-052c-4747-9570-fa775f0972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8308</TotalTime>
  <Words>1039</Words>
  <Application>Microsoft Office PowerPoint</Application>
  <PresentationFormat>Widescreen</PresentationFormat>
  <Paragraphs>114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Kunstler Script</vt:lpstr>
      <vt:lpstr>Times New Roman</vt:lpstr>
      <vt:lpstr>Office Theme</vt:lpstr>
      <vt:lpstr>Understanding What Shapes Graduation Success: A National Analysis for USDE Decision-Making</vt:lpstr>
      <vt:lpstr>Agenda</vt:lpstr>
      <vt:lpstr>Purpose</vt:lpstr>
      <vt:lpstr>Data Summary</vt:lpstr>
      <vt:lpstr>Tableau Findings ( United States Map)</vt:lpstr>
      <vt:lpstr>Tableau Findings ( Bar Chart)</vt:lpstr>
      <vt:lpstr>Tableau Findings ( Scatterplot)</vt:lpstr>
      <vt:lpstr>Tableau Findings ( Line Graph)</vt:lpstr>
      <vt:lpstr>Tableau Findings ( Tree Map)</vt:lpstr>
      <vt:lpstr>Tableau Findings ( Pie Chart)</vt:lpstr>
      <vt:lpstr>Regression Process Overview</vt:lpstr>
      <vt:lpstr>Final and Best Regression Model + Why?</vt:lpstr>
      <vt:lpstr>Recommendation</vt:lpstr>
      <vt:lpstr>Graduation outcomes are driven primarily by financial need, selectivity, and enrollment structure. Institutions with strong applicant demand and higher full-time enrollment perform best. Supporting Pell-eligible students is critical for improving national graduation rates.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Chavez, Nicholas - (chavezn)</dc:creator>
  <cp:lastModifiedBy>Chavez, Nicholas - (chavezn)</cp:lastModifiedBy>
  <cp:revision>2</cp:revision>
  <dcterms:created xsi:type="dcterms:W3CDTF">2025-12-07T09:18:04Z</dcterms:created>
  <dcterms:modified xsi:type="dcterms:W3CDTF">2025-12-13T03:59:55Z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0x01010033B40C49E5D7284F9E71935C596456D7</vt:lpwstr>
  </property>
</Properties>
</file>